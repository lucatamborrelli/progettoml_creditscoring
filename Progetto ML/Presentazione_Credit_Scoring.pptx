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Fai clic per spostare la diapositiva</a:t>
            </a:r>
            <a:endParaRPr b="0" lang="it-IT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delle note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5113502-C1A7-4753-98D5-8FE53B4C427F}" type="slidenum"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49C084-326C-45AC-A07F-1E7101A343B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3F0E86-5C2F-403D-8083-3A289CE662E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9841B4-CF29-48BC-9D43-D48F11E790C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DE739D-F795-4979-B2A3-B73E12E77FB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DDB049-74BD-4205-9D1B-1167DD9DE8A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DB422A-71D4-4B3D-A4EE-B9B4BA5D869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CD9FA1-64B3-4BC9-9509-5DA3F3D2B42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6AC0BD-AA9D-415F-B957-8F882AA4CB9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A55B94-7BE4-4255-8BED-61ADBA89AD5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B046AD-34C5-4260-9F4B-EB39C04725F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C6B7C4-2217-4D0E-824C-3138019F11D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578D2A-BCA9-4A41-8A42-8B7DCE2212F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912CCF-4B30-4630-AAAB-C87AB7B5B5C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&lt;numero&gt;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Fai clic per modificare il formato del testo del titolo</a:t>
            </a:r>
            <a:endParaRPr b="0" lang="it-IT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Fai clic per modificare il formato del testo della struttura</a:t>
            </a:r>
            <a:endParaRPr b="0" lang="it-IT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 struttura</a:t>
            </a:r>
            <a:endParaRPr b="0" lang="it-IT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 struttura</a:t>
            </a:r>
            <a:endParaRPr b="0" lang="it-IT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 struttura</a:t>
            </a:r>
            <a:endParaRPr b="0" lang="it-IT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 struttura</a:t>
            </a:r>
            <a:endParaRPr b="0" lang="it-IT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Sesto livello struttura</a:t>
            </a:r>
            <a:endParaRPr b="0" lang="it-IT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Settimo livello struttura</a:t>
            </a:r>
            <a:endParaRPr b="0" lang="it-IT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8869680" y="-2011680"/>
            <a:ext cx="6400440" cy="6400440"/>
          </a:xfrm>
          <a:prstGeom prst="ellipse">
            <a:avLst/>
          </a:prstGeom>
          <a:solidFill>
            <a:srgbClr val="1e2761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0241280" y="3840480"/>
            <a:ext cx="4114440" cy="4114440"/>
          </a:xfrm>
          <a:prstGeom prst="ellipse">
            <a:avLst/>
          </a:prstGeom>
          <a:solidFill>
            <a:srgbClr val="d9a44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731520" y="182880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3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PROGETTO DI MACHINE LEARNING</a:t>
            </a:r>
            <a:endParaRPr b="0" lang="it-IT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31520" y="2286000"/>
            <a:ext cx="96008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4601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Sviluppo di un Modello Predittivo</a:t>
            </a:r>
            <a:endParaRPr b="0" lang="it-IT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601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di Credit Scoring</a:t>
            </a:r>
            <a:endParaRPr b="0" lang="it-IT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731520" y="4114800"/>
            <a:ext cx="8686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Confronto tra Random Forest, Decision Tree e Naive Bayes</a:t>
            </a:r>
            <a:endParaRPr b="0" lang="it-IT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su dati di credito al consumo (German Credit Data)</a:t>
            </a:r>
            <a:endParaRPr b="0" lang="it-IT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31520" y="594360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Luca Tamborrelli  </a:t>
            </a:r>
            <a:endParaRPr b="0" lang="it-IT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548640" y="41148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Lo Scenario Bancario</a:t>
            </a:r>
            <a:endParaRPr b="0" lang="it-IT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548640" y="11430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548640" y="1920240"/>
            <a:ext cx="3520080" cy="3931560"/>
          </a:xfrm>
          <a:prstGeom prst="roundRect">
            <a:avLst>
              <a:gd name="adj" fmla="val 2078"/>
            </a:avLst>
          </a:prstGeom>
          <a:solidFill>
            <a:srgbClr val="f7f8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822960" y="2240280"/>
            <a:ext cx="502560" cy="5025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822960" y="22402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822960" y="2880360"/>
            <a:ext cx="2971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problema</a:t>
            </a:r>
            <a:endParaRPr b="0" lang="it-IT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822960" y="3383280"/>
            <a:ext cx="29714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Ogni istituto di credito deve stimare il rischio di insolvenza prima di erogare un prestito, in modo rapido e coerente.</a:t>
            </a:r>
            <a:endParaRPr b="0" lang="it-IT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4343400" y="1920240"/>
            <a:ext cx="3520080" cy="3931560"/>
          </a:xfrm>
          <a:prstGeom prst="roundRect">
            <a:avLst>
              <a:gd name="adj" fmla="val 2078"/>
            </a:avLst>
          </a:prstGeom>
          <a:solidFill>
            <a:srgbClr val="f7f8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4617720" y="2240280"/>
            <a:ext cx="502560" cy="5025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4617720" y="22402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4617720" y="2880360"/>
            <a:ext cx="2971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Il costo asimmetrico</a:t>
            </a:r>
            <a:endParaRPr b="0" lang="it-IT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4617720" y="3383280"/>
            <a:ext cx="29714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Rifiutare un cliente buono costa un'opportunità mancata; accettare un cliente cattivo costa un default: un errore molto più grave.</a:t>
            </a:r>
            <a:endParaRPr b="0" lang="it-IT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2"/>
          <p:cNvSpPr/>
          <p:nvPr/>
        </p:nvSpPr>
        <p:spPr>
          <a:xfrm>
            <a:off x="8138160" y="1920240"/>
            <a:ext cx="3520080" cy="3931560"/>
          </a:xfrm>
          <a:prstGeom prst="roundRect">
            <a:avLst>
              <a:gd name="adj" fmla="val 2078"/>
            </a:avLst>
          </a:prstGeom>
          <a:solidFill>
            <a:srgbClr val="f7f8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3"/>
          <p:cNvSpPr/>
          <p:nvPr/>
        </p:nvSpPr>
        <p:spPr>
          <a:xfrm>
            <a:off x="8412480" y="2240280"/>
            <a:ext cx="502560" cy="5025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8412480" y="22402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8412480" y="2880360"/>
            <a:ext cx="2971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L'obiettivo</a:t>
            </a:r>
            <a:endParaRPr b="0" lang="it-IT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6"/>
          <p:cNvSpPr/>
          <p:nvPr/>
        </p:nvSpPr>
        <p:spPr>
          <a:xfrm>
            <a:off x="8412480" y="3383280"/>
            <a:ext cx="29714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Costruire un modello che classifichi i richiedenti come affidabili o rischiosi, calibrato sul costo reale degli errori.</a:t>
            </a:r>
            <a:endParaRPr b="0" lang="it-IT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7"/>
          <p:cNvSpPr/>
          <p:nvPr/>
        </p:nvSpPr>
        <p:spPr>
          <a:xfrm>
            <a:off x="116128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2</a:t>
            </a:r>
            <a:endParaRPr b="0" lang="it-IT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8"/>
          <p:cNvSpPr/>
          <p:nvPr/>
        </p:nvSpPr>
        <p:spPr>
          <a:xfrm>
            <a:off x="548640" y="6492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548640" y="41148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Il Dataset: German Credit Data</a:t>
            </a:r>
            <a:endParaRPr b="0" lang="it-IT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548640" y="11430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"/>
          <p:cNvSpPr/>
          <p:nvPr/>
        </p:nvSpPr>
        <p:spPr>
          <a:xfrm>
            <a:off x="548640" y="1828800"/>
            <a:ext cx="2605680" cy="173700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3"/>
          <p:cNvSpPr/>
          <p:nvPr/>
        </p:nvSpPr>
        <p:spPr>
          <a:xfrm>
            <a:off x="548640" y="1965960"/>
            <a:ext cx="2605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d9a441"/>
                </a:solidFill>
                <a:effectLst/>
                <a:uFillTx/>
                <a:latin typeface="Cambria"/>
                <a:ea typeface="Cambria"/>
              </a:rPr>
              <a:t>1.000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4"/>
          <p:cNvSpPr/>
          <p:nvPr/>
        </p:nvSpPr>
        <p:spPr>
          <a:xfrm>
            <a:off x="685800" y="2743200"/>
            <a:ext cx="2331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osservazioni</a:t>
            </a:r>
            <a:endParaRPr b="0" lang="it-I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5"/>
          <p:cNvSpPr/>
          <p:nvPr/>
        </p:nvSpPr>
        <p:spPr>
          <a:xfrm>
            <a:off x="3383280" y="1828800"/>
            <a:ext cx="2605680" cy="173700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6"/>
          <p:cNvSpPr/>
          <p:nvPr/>
        </p:nvSpPr>
        <p:spPr>
          <a:xfrm>
            <a:off x="3383280" y="1965960"/>
            <a:ext cx="2605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d9a441"/>
                </a:solidFill>
                <a:effectLst/>
                <a:uFillTx/>
                <a:latin typeface="Cambria"/>
                <a:ea typeface="Cambria"/>
              </a:rPr>
              <a:t>20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3520440" y="2743200"/>
            <a:ext cx="2331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variabili (7 numeriche + 13 categoriche)</a:t>
            </a:r>
            <a:endParaRPr b="0" lang="it-I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8"/>
          <p:cNvSpPr/>
          <p:nvPr/>
        </p:nvSpPr>
        <p:spPr>
          <a:xfrm>
            <a:off x="6217920" y="1828800"/>
            <a:ext cx="2605680" cy="173700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9"/>
          <p:cNvSpPr/>
          <p:nvPr/>
        </p:nvSpPr>
        <p:spPr>
          <a:xfrm>
            <a:off x="6217920" y="1965960"/>
            <a:ext cx="2605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d9a441"/>
                </a:solidFill>
                <a:effectLst/>
                <a:uFillTx/>
                <a:latin typeface="Cambria"/>
                <a:ea typeface="Cambria"/>
              </a:rPr>
              <a:t>70/30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6355080" y="2743200"/>
            <a:ext cx="2331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split classi (good / bad)</a:t>
            </a:r>
            <a:endParaRPr b="0" lang="it-I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1"/>
          <p:cNvSpPr/>
          <p:nvPr/>
        </p:nvSpPr>
        <p:spPr>
          <a:xfrm>
            <a:off x="9052560" y="1828800"/>
            <a:ext cx="2605680" cy="173700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9052560" y="1965960"/>
            <a:ext cx="2605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d9a441"/>
                </a:solidFill>
                <a:effectLst/>
                <a:uFillTx/>
                <a:latin typeface="Cambria"/>
                <a:ea typeface="Cambria"/>
              </a:rPr>
              <a:t>0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3"/>
          <p:cNvSpPr/>
          <p:nvPr/>
        </p:nvSpPr>
        <p:spPr>
          <a:xfrm>
            <a:off x="9189720" y="2743200"/>
            <a:ext cx="2331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valori mancanti</a:t>
            </a:r>
            <a:endParaRPr b="0" lang="it-I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4"/>
          <p:cNvSpPr/>
          <p:nvPr/>
        </p:nvSpPr>
        <p:spPr>
          <a:xfrm>
            <a:off x="548640" y="38404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Variabili principali</a:t>
            </a:r>
            <a:endParaRPr b="0" lang="it-IT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5"/>
          <p:cNvSpPr/>
          <p:nvPr/>
        </p:nvSpPr>
        <p:spPr>
          <a:xfrm>
            <a:off x="548640" y="4297680"/>
            <a:ext cx="56689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33333"/>
              </a:buClr>
              <a:buFont typeface="OpenSymbol"/>
              <a:buChar char="▪"/>
            </a:pPr>
            <a:r>
              <a:rPr b="0" lang="en-US" sz="13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checking_status — stato del conto corrente</a:t>
            </a:r>
            <a:endParaRPr b="0" lang="it-IT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33333"/>
              </a:buClr>
              <a:buFont typeface="OpenSymbol"/>
              <a:buChar char="▪"/>
            </a:pPr>
            <a:r>
              <a:rPr b="0" lang="en-US" sz="13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duration — durata del prestito (mesi)</a:t>
            </a:r>
            <a:endParaRPr b="0" lang="it-IT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33333"/>
              </a:buClr>
              <a:buFont typeface="OpenSymbol"/>
              <a:buChar char="▪"/>
            </a:pPr>
            <a:r>
              <a:rPr b="0" lang="en-US" sz="13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credit_amount — importo richiesto</a:t>
            </a:r>
            <a:endParaRPr b="0" lang="it-IT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33333"/>
              </a:buClr>
              <a:buFont typeface="OpenSymbol"/>
              <a:buChar char="▪"/>
            </a:pPr>
            <a:r>
              <a:rPr b="0" lang="en-US" sz="13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credit_history — storia creditizia pregressa</a:t>
            </a:r>
            <a:endParaRPr b="0" lang="it-IT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33333"/>
              </a:buClr>
              <a:buFont typeface="OpenSymbol"/>
              <a:buChar char="▪"/>
            </a:pPr>
            <a:r>
              <a:rPr b="0" lang="en-US" sz="13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age — età del richiedente</a:t>
            </a:r>
            <a:endParaRPr b="0" lang="it-IT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33333"/>
              </a:buClr>
              <a:buFont typeface="OpenSymbol"/>
              <a:buChar char="▪"/>
            </a:pPr>
            <a:r>
              <a:rPr b="0" lang="en-US" sz="13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purpose — scopo del finanziamento</a:t>
            </a:r>
            <a:endParaRPr b="0" lang="it-IT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6"/>
          <p:cNvSpPr/>
          <p:nvPr/>
        </p:nvSpPr>
        <p:spPr>
          <a:xfrm>
            <a:off x="6492240" y="384048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8"/>
          <p:cNvSpPr/>
          <p:nvPr/>
        </p:nvSpPr>
        <p:spPr>
          <a:xfrm>
            <a:off x="6720840" y="4480560"/>
            <a:ext cx="46630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9"/>
          <p:cNvSpPr/>
          <p:nvPr/>
        </p:nvSpPr>
        <p:spPr>
          <a:xfrm>
            <a:off x="116128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3</a:t>
            </a:r>
            <a:endParaRPr b="0" lang="it-IT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0"/>
          <p:cNvSpPr/>
          <p:nvPr/>
        </p:nvSpPr>
        <p:spPr>
          <a:xfrm>
            <a:off x="548640" y="6492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548640" y="41148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Qualità del Dato: Valori Mancanti</a:t>
            </a:r>
            <a:endParaRPr b="0" lang="it-IT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0" descr="assets/missing_heatmap.png"/>
          <p:cNvPicPr/>
          <p:nvPr/>
        </p:nvPicPr>
        <p:blipFill>
          <a:blip r:embed="rId1"/>
          <a:stretch/>
        </p:blipFill>
        <p:spPr>
          <a:xfrm>
            <a:off x="5220000" y="1440000"/>
            <a:ext cx="6660000" cy="366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Shape 1"/>
          <p:cNvSpPr/>
          <p:nvPr/>
        </p:nvSpPr>
        <p:spPr>
          <a:xfrm>
            <a:off x="6309360" y="1371600"/>
            <a:ext cx="5394600" cy="2971440"/>
          </a:xfrm>
          <a:prstGeom prst="rect">
            <a:avLst/>
          </a:prstGeom>
          <a:noFill/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6305400" y="5940000"/>
            <a:ext cx="5394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Mappa dei valori mancanti — nessun buco rilevato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548640" y="1828800"/>
            <a:ext cx="53946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5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Verifica sistematica su tutte le 21 colonne</a:t>
            </a:r>
            <a:endParaRPr b="0" lang="it-IT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200"/>
              </a:lnSpc>
              <a:spcAft>
                <a:spcPts val="1001"/>
              </a:spcAft>
              <a:buClr>
                <a:srgbClr val="333333"/>
              </a:buClr>
              <a:buFont typeface="OpenSymbol"/>
              <a:buChar char="▪"/>
            </a:pPr>
            <a:r>
              <a:rPr b="0" lang="en-US" sz="15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it-IT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200"/>
              </a:lnSpc>
              <a:spcAft>
                <a:spcPts val="1001"/>
              </a:spcAft>
              <a:buClr>
                <a:srgbClr val="333333"/>
              </a:buClr>
              <a:buFont typeface="OpenSymbol"/>
              <a:buChar char="▪"/>
            </a:pPr>
            <a:r>
              <a:rPr b="0" lang="en-US" sz="15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Nessun valore mancante identificato</a:t>
            </a:r>
            <a:endParaRPr b="0" lang="it-IT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200"/>
              </a:lnSpc>
              <a:spcAft>
                <a:spcPts val="1001"/>
              </a:spcAft>
              <a:buClr>
                <a:srgbClr val="333333"/>
              </a:buClr>
              <a:buFont typeface="OpenSymbol"/>
              <a:buChar char="▪"/>
            </a:pPr>
            <a:r>
              <a:rPr b="0" lang="en-US" sz="15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it-IT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200"/>
              </a:lnSpc>
              <a:spcAft>
                <a:spcPts val="1001"/>
              </a:spcAft>
              <a:buClr>
                <a:srgbClr val="333333"/>
              </a:buClr>
              <a:buFont typeface="OpenSymbol"/>
              <a:buChar char="▪"/>
            </a:pPr>
            <a:r>
              <a:rPr b="0" lang="en-US" sz="15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Nessuna imputazione necessaria (mediana/moda)</a:t>
            </a:r>
            <a:endParaRPr b="0" lang="it-IT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200"/>
              </a:lnSpc>
              <a:spcAft>
                <a:spcPts val="1001"/>
              </a:spcAft>
              <a:buClr>
                <a:srgbClr val="333333"/>
              </a:buClr>
              <a:buFont typeface="OpenSymbol"/>
              <a:buChar char="▪"/>
            </a:pPr>
            <a:r>
              <a:rPr b="0" lang="en-US" sz="15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it-IT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200"/>
              </a:lnSpc>
              <a:buClr>
                <a:srgbClr val="333333"/>
              </a:buClr>
              <a:buFont typeface="OpenSymbol"/>
              <a:buChar char="▪"/>
            </a:pPr>
            <a:r>
              <a:rPr b="0" lang="en-US" sz="15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Si passa direttamente a encoding e outlier check</a:t>
            </a:r>
            <a:endParaRPr b="0" lang="it-IT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116128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4</a:t>
            </a:r>
            <a:endParaRPr b="0" lang="it-IT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548640" y="6492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548640" y="41148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Analisi degli Outlier</a:t>
            </a:r>
            <a:endParaRPr b="0" lang="it-IT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Image 0" descr="assets/outliers.png"/>
          <p:cNvPicPr/>
          <p:nvPr/>
        </p:nvPicPr>
        <p:blipFill>
          <a:blip r:embed="rId1"/>
          <a:stretch/>
        </p:blipFill>
        <p:spPr>
          <a:xfrm>
            <a:off x="5394960" y="1280160"/>
            <a:ext cx="6309000" cy="417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1"/>
          <p:cNvSpPr/>
          <p:nvPr/>
        </p:nvSpPr>
        <p:spPr>
          <a:xfrm>
            <a:off x="468360" y="1742760"/>
            <a:ext cx="45716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5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Boxplot su 4 variabili numeriche chiave</a:t>
            </a:r>
            <a:endParaRPr b="0" lang="it-IT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200"/>
              </a:lnSpc>
              <a:spcAft>
                <a:spcPts val="1001"/>
              </a:spcAft>
              <a:buClr>
                <a:srgbClr val="333333"/>
              </a:buClr>
              <a:buFont typeface="OpenSymbol"/>
              <a:buChar char="▪"/>
            </a:pPr>
            <a:r>
              <a:rPr b="0" lang="en-US" sz="15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it-IT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200"/>
              </a:lnSpc>
              <a:spcAft>
                <a:spcPts val="1001"/>
              </a:spcAft>
              <a:buClr>
                <a:srgbClr val="333333"/>
              </a:buClr>
              <a:buFont typeface="OpenSymbol"/>
              <a:buChar char="▪"/>
            </a:pPr>
            <a:r>
              <a:rPr b="0" lang="en-US" sz="15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credit_amount: più outlier (importi elevati)</a:t>
            </a:r>
            <a:endParaRPr b="0" lang="it-IT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200"/>
              </a:lnSpc>
              <a:spcAft>
                <a:spcPts val="1001"/>
              </a:spcAft>
              <a:buClr>
                <a:srgbClr val="333333"/>
              </a:buClr>
              <a:buFont typeface="OpenSymbol"/>
              <a:buChar char="▪"/>
            </a:pPr>
            <a:r>
              <a:rPr b="0" lang="en-US" sz="15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it-IT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200"/>
              </a:lnSpc>
              <a:spcAft>
                <a:spcPts val="1001"/>
              </a:spcAft>
              <a:buClr>
                <a:srgbClr val="333333"/>
              </a:buClr>
              <a:buFont typeface="OpenSymbol"/>
              <a:buChar char="▪"/>
            </a:pPr>
            <a:r>
              <a:rPr b="0" lang="en-US" sz="15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duration e age: alcuni valori estremi</a:t>
            </a:r>
            <a:endParaRPr b="0" lang="it-IT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200"/>
              </a:lnSpc>
              <a:spcAft>
                <a:spcPts val="1001"/>
              </a:spcAft>
              <a:buClr>
                <a:srgbClr val="333333"/>
              </a:buClr>
              <a:buFont typeface="OpenSymbol"/>
              <a:buChar char="▪"/>
            </a:pPr>
            <a:r>
              <a:rPr b="0" lang="en-US" sz="15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it-IT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200"/>
              </a:lnSpc>
              <a:buClr>
                <a:srgbClr val="333333"/>
              </a:buClr>
              <a:buFont typeface="OpenSymbol"/>
              <a:buChar char="▪"/>
            </a:pPr>
            <a:r>
              <a:rPr b="0" lang="en-US" sz="15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Outlier mantenuti: rappresentano casi reali e il Random Forest è robusto alla loro presenza</a:t>
            </a:r>
            <a:endParaRPr b="0" lang="it-IT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116128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5</a:t>
            </a:r>
            <a:endParaRPr b="0" lang="it-IT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548640" y="6492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548640" y="41148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Preprocessing: dal Testo ai Numeri</a:t>
            </a:r>
            <a:endParaRPr b="0" lang="it-IT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548640" y="11430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One-Hot Encoding delle variabili categoriche</a:t>
            </a:r>
            <a:endParaRPr b="0" lang="it-IT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"/>
          <p:cNvSpPr/>
          <p:nvPr/>
        </p:nvSpPr>
        <p:spPr>
          <a:xfrm>
            <a:off x="548640" y="2011680"/>
            <a:ext cx="5120280" cy="3565800"/>
          </a:xfrm>
          <a:prstGeom prst="roundRect">
            <a:avLst>
              <a:gd name="adj" fmla="val 2051"/>
            </a:avLst>
          </a:prstGeom>
          <a:solidFill>
            <a:srgbClr val="141b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822960" y="2377440"/>
            <a:ext cx="1828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cadcfc"/>
                </a:solidFill>
                <a:effectLst/>
                <a:uFillTx/>
                <a:latin typeface="Cambria"/>
                <a:ea typeface="Cambria"/>
              </a:rPr>
              <a:t>21</a:t>
            </a:r>
            <a:endParaRPr b="0" lang="it-IT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822960" y="3429000"/>
            <a:ext cx="4480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colonne originali</a:t>
            </a:r>
            <a:endParaRPr b="0" lang="it-IT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(7 numeriche + 13 categoriche)</a:t>
            </a:r>
            <a:endParaRPr b="0" lang="it-IT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5"/>
          <p:cNvSpPr/>
          <p:nvPr/>
        </p:nvSpPr>
        <p:spPr>
          <a:xfrm>
            <a:off x="822960" y="4297680"/>
            <a:ext cx="44802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5dcf2"/>
                </a:solidFill>
                <a:effectLst/>
                <a:uFillTx/>
                <a:latin typeface="Calibri"/>
                <a:ea typeface="Calibri"/>
              </a:rPr>
              <a:t>13 variabili categoriche (es. checking_status, purpose, housing) contengono etichette testuali che i modelli non possono interpretare direttamente.</a:t>
            </a:r>
            <a:endParaRPr b="0" lang="it-IT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6"/>
          <p:cNvSpPr/>
          <p:nvPr/>
        </p:nvSpPr>
        <p:spPr>
          <a:xfrm>
            <a:off x="6035040" y="2011680"/>
            <a:ext cx="5577480" cy="3565800"/>
          </a:xfrm>
          <a:prstGeom prst="roundRect">
            <a:avLst>
              <a:gd name="adj" fmla="val 2051"/>
            </a:avLst>
          </a:prstGeom>
          <a:solidFill>
            <a:srgbClr val="d9a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6309360" y="2377440"/>
            <a:ext cx="1828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141b4d"/>
                </a:solidFill>
                <a:effectLst/>
                <a:uFillTx/>
                <a:latin typeface="Cambria"/>
                <a:ea typeface="Cambria"/>
              </a:rPr>
              <a:t>49</a:t>
            </a:r>
            <a:endParaRPr b="0" lang="it-IT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8"/>
          <p:cNvSpPr/>
          <p:nvPr/>
        </p:nvSpPr>
        <p:spPr>
          <a:xfrm>
            <a:off x="6309360" y="342900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41b4d"/>
                </a:solidFill>
                <a:effectLst/>
                <a:uFillTx/>
                <a:latin typeface="Calibri"/>
                <a:ea typeface="Calibri"/>
              </a:rPr>
              <a:t>colonne dopo l'encoding</a:t>
            </a:r>
            <a:endParaRPr b="0" lang="it-IT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9"/>
          <p:cNvSpPr/>
          <p:nvPr/>
        </p:nvSpPr>
        <p:spPr>
          <a:xfrm>
            <a:off x="6309360" y="3977640"/>
            <a:ext cx="4937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41b4d"/>
                </a:solidFill>
                <a:effectLst/>
                <a:uFillTx/>
                <a:latin typeface="Calibri"/>
                <a:ea typeface="Calibri"/>
              </a:rPr>
              <a:t>Ogni categoria diventa una colonna binaria (0/1). Evita che il modello interpreti le categorie come dotate di un ordine inesistente.</a:t>
            </a:r>
            <a:endParaRPr b="0" lang="it-IT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0"/>
          <p:cNvSpPr/>
          <p:nvPr/>
        </p:nvSpPr>
        <p:spPr>
          <a:xfrm>
            <a:off x="6309360" y="502920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141b4d"/>
                </a:solidFill>
                <a:effectLst/>
                <a:uFillTx/>
                <a:latin typeface="Calibri"/>
                <a:ea typeface="Calibri"/>
              </a:rPr>
              <a:t>Split successivo: 80% train (800) / 20% test (200), stratificato sul target</a:t>
            </a:r>
            <a:endParaRPr b="0" lang="it-IT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1"/>
          <p:cNvSpPr/>
          <p:nvPr/>
        </p:nvSpPr>
        <p:spPr>
          <a:xfrm>
            <a:off x="116128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6</a:t>
            </a:r>
            <a:endParaRPr b="0" lang="it-IT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2"/>
          <p:cNvSpPr/>
          <p:nvPr/>
        </p:nvSpPr>
        <p:spPr>
          <a:xfrm>
            <a:off x="548640" y="6492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548640" y="41148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Perché il Random Forest?</a:t>
            </a:r>
            <a:endParaRPr b="0" lang="it-IT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"/>
          <p:cNvSpPr/>
          <p:nvPr/>
        </p:nvSpPr>
        <p:spPr>
          <a:xfrm>
            <a:off x="548640" y="1554480"/>
            <a:ext cx="594000" cy="5940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548640" y="155448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it-IT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1371600" y="1508760"/>
            <a:ext cx="3931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Ensemble di alberi</a:t>
            </a:r>
            <a:endParaRPr b="0" lang="it-IT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4"/>
          <p:cNvSpPr/>
          <p:nvPr/>
        </p:nvSpPr>
        <p:spPr>
          <a:xfrm>
            <a:off x="5394960" y="1508760"/>
            <a:ext cx="6217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100 Decision Tree indipendenti, addestrati su sottoinsiemi casuali di dati e variabili, combinati per votazione.</a:t>
            </a:r>
            <a:endParaRPr b="0" lang="it-IT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5"/>
          <p:cNvSpPr/>
          <p:nvPr/>
        </p:nvSpPr>
        <p:spPr>
          <a:xfrm>
            <a:off x="548640" y="2761560"/>
            <a:ext cx="594000" cy="5940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548640" y="276156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it-IT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7"/>
          <p:cNvSpPr/>
          <p:nvPr/>
        </p:nvSpPr>
        <p:spPr>
          <a:xfrm>
            <a:off x="1371600" y="2715840"/>
            <a:ext cx="3931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Robustezza all'overfitting</a:t>
            </a:r>
            <a:endParaRPr b="0" lang="it-IT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8"/>
          <p:cNvSpPr/>
          <p:nvPr/>
        </p:nvSpPr>
        <p:spPr>
          <a:xfrm>
            <a:off x="5394960" y="2715840"/>
            <a:ext cx="6217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 differenza di un singolo albero, riduce la varianza e generalizza meglio su dati mai visti.</a:t>
            </a:r>
            <a:endParaRPr b="0" lang="it-IT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9"/>
          <p:cNvSpPr/>
          <p:nvPr/>
        </p:nvSpPr>
        <p:spPr>
          <a:xfrm>
            <a:off x="548640" y="3968640"/>
            <a:ext cx="594000" cy="5940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0"/>
          <p:cNvSpPr/>
          <p:nvPr/>
        </p:nvSpPr>
        <p:spPr>
          <a:xfrm>
            <a:off x="548640" y="396864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it-IT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1"/>
          <p:cNvSpPr/>
          <p:nvPr/>
        </p:nvSpPr>
        <p:spPr>
          <a:xfrm>
            <a:off x="1371600" y="3922920"/>
            <a:ext cx="3931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Gestione dello sbilanciamento</a:t>
            </a:r>
            <a:endParaRPr b="0" lang="it-IT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5394960" y="3922920"/>
            <a:ext cx="6217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class_weight='balanced' compensa la maggioranza di clienti "buoni" (~70%) rispetto ai "cattivi" (~30%).</a:t>
            </a:r>
            <a:endParaRPr b="0" lang="it-IT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3"/>
          <p:cNvSpPr/>
          <p:nvPr/>
        </p:nvSpPr>
        <p:spPr>
          <a:xfrm>
            <a:off x="548640" y="5175360"/>
            <a:ext cx="594000" cy="5940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4"/>
          <p:cNvSpPr/>
          <p:nvPr/>
        </p:nvSpPr>
        <p:spPr>
          <a:xfrm>
            <a:off x="548640" y="517536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it-IT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5"/>
          <p:cNvSpPr/>
          <p:nvPr/>
        </p:nvSpPr>
        <p:spPr>
          <a:xfrm>
            <a:off x="1371600" y="5129640"/>
            <a:ext cx="3931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Robustezza agli outlier</a:t>
            </a:r>
            <a:endParaRPr b="0" lang="it-IT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6"/>
          <p:cNvSpPr/>
          <p:nvPr/>
        </p:nvSpPr>
        <p:spPr>
          <a:xfrm>
            <a:off x="5394960" y="5129640"/>
            <a:ext cx="6217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Non richiede assunzioni di normalità, quindi non risente degli outlier osservati nella EDA.</a:t>
            </a:r>
            <a:endParaRPr b="0" lang="it-IT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7"/>
          <p:cNvSpPr/>
          <p:nvPr/>
        </p:nvSpPr>
        <p:spPr>
          <a:xfrm>
            <a:off x="116128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7</a:t>
            </a:r>
            <a:endParaRPr b="0" lang="it-IT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8"/>
          <p:cNvSpPr/>
          <p:nvPr/>
        </p:nvSpPr>
        <p:spPr>
          <a:xfrm>
            <a:off x="548640" y="6492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548640" y="41148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Prestazioni con Soglia Standard (0.5)</a:t>
            </a:r>
            <a:endParaRPr b="0" lang="it-IT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Image 0" descr="assets/confusion_baseline.png"/>
          <p:cNvPicPr/>
          <p:nvPr/>
        </p:nvPicPr>
        <p:blipFill>
          <a:blip r:embed="rId1"/>
          <a:stretch/>
        </p:blipFill>
        <p:spPr>
          <a:xfrm>
            <a:off x="548640" y="1371600"/>
            <a:ext cx="4480200" cy="397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Shape 1"/>
          <p:cNvSpPr/>
          <p:nvPr/>
        </p:nvSpPr>
        <p:spPr>
          <a:xfrm>
            <a:off x="5394960" y="1554480"/>
            <a:ext cx="2925720" cy="127980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5394960" y="1691640"/>
            <a:ext cx="2925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78%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5394960" y="2331720"/>
            <a:ext cx="2925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Accuracy</a:t>
            </a:r>
            <a:endParaRPr b="0" lang="it-I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4"/>
          <p:cNvSpPr/>
          <p:nvPr/>
        </p:nvSpPr>
        <p:spPr>
          <a:xfrm>
            <a:off x="8595360" y="1554480"/>
            <a:ext cx="2925720" cy="127980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8595360" y="1691640"/>
            <a:ext cx="2925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0.78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8595360" y="2331720"/>
            <a:ext cx="2925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Precision (classe 1)</a:t>
            </a:r>
            <a:endParaRPr b="0" lang="it-I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7"/>
          <p:cNvSpPr/>
          <p:nvPr/>
        </p:nvSpPr>
        <p:spPr>
          <a:xfrm>
            <a:off x="5394960" y="3108960"/>
            <a:ext cx="2925720" cy="127980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8"/>
          <p:cNvSpPr/>
          <p:nvPr/>
        </p:nvSpPr>
        <p:spPr>
          <a:xfrm>
            <a:off x="5394960" y="3246120"/>
            <a:ext cx="2925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0.35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9"/>
          <p:cNvSpPr/>
          <p:nvPr/>
        </p:nvSpPr>
        <p:spPr>
          <a:xfrm>
            <a:off x="5394960" y="3886200"/>
            <a:ext cx="2925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Recall (classe 1)</a:t>
            </a:r>
            <a:endParaRPr b="0" lang="it-I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0"/>
          <p:cNvSpPr/>
          <p:nvPr/>
        </p:nvSpPr>
        <p:spPr>
          <a:xfrm>
            <a:off x="8595360" y="3108960"/>
            <a:ext cx="2925720" cy="127980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8595360" y="3246120"/>
            <a:ext cx="2925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0.48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2"/>
          <p:cNvSpPr/>
          <p:nvPr/>
        </p:nvSpPr>
        <p:spPr>
          <a:xfrm>
            <a:off x="8595360" y="3886200"/>
            <a:ext cx="2925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F1-score (classe 1)</a:t>
            </a:r>
            <a:endParaRPr b="0" lang="it-IT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3"/>
          <p:cNvSpPr/>
          <p:nvPr/>
        </p:nvSpPr>
        <p:spPr>
          <a:xfrm>
            <a:off x="5394960" y="4754880"/>
            <a:ext cx="6217560" cy="1096920"/>
          </a:xfrm>
          <a:prstGeom prst="roundRect">
            <a:avLst>
              <a:gd name="adj" fmla="val 5833"/>
            </a:avLst>
          </a:prstGeom>
          <a:solidFill>
            <a:srgbClr val="b33a3a">
              <a:alpha val="12000"/>
            </a:srgbClr>
          </a:solidFill>
          <a:ln w="12700">
            <a:solidFill>
              <a:srgbClr val="b33a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4"/>
          <p:cNvSpPr/>
          <p:nvPr/>
        </p:nvSpPr>
        <p:spPr>
          <a:xfrm>
            <a:off x="5577840" y="4846320"/>
            <a:ext cx="5851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c1010"/>
                </a:solidFill>
                <a:effectLst/>
                <a:uFillTx/>
                <a:latin typeface="Calibri"/>
                <a:ea typeface="Calibri"/>
              </a:rPr>
              <a:t>Punto critico: il modello individua solo il 35% dei clienti a rischio reale (39 falsi negativi su 60) — insufficiente per un contesto bancario decente.</a:t>
            </a:r>
            <a:endParaRPr b="0" lang="it-IT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5"/>
          <p:cNvSpPr/>
          <p:nvPr/>
        </p:nvSpPr>
        <p:spPr>
          <a:xfrm>
            <a:off x="116128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8</a:t>
            </a:r>
            <a:endParaRPr b="0" lang="it-IT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6"/>
          <p:cNvSpPr/>
          <p:nvPr/>
        </p:nvSpPr>
        <p:spPr>
          <a:xfrm>
            <a:off x="548640" y="6492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548640" y="41148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Ottimizzazione della Soglia: Trade-off</a:t>
            </a:r>
            <a:endParaRPr b="0" lang="it-IT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"/>
          <p:cNvSpPr/>
          <p:nvPr/>
        </p:nvSpPr>
        <p:spPr>
          <a:xfrm>
            <a:off x="548640" y="1737360"/>
            <a:ext cx="5394600" cy="4297320"/>
          </a:xfrm>
          <a:prstGeom prst="roundRect">
            <a:avLst>
              <a:gd name="adj" fmla="val 1702"/>
            </a:avLst>
          </a:prstGeom>
          <a:solidFill>
            <a:srgbClr val="f7f8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"/>
          <p:cNvSpPr/>
          <p:nvPr/>
        </p:nvSpPr>
        <p:spPr>
          <a:xfrm>
            <a:off x="822960" y="192024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SOGLIA 0.5</a:t>
            </a:r>
            <a:endParaRPr b="0" lang="it-IT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Image 0" descr="assets/confusion_baseline.png"/>
          <p:cNvPicPr/>
          <p:nvPr/>
        </p:nvPicPr>
        <p:blipFill>
          <a:blip r:embed="rId1"/>
          <a:stretch/>
        </p:blipFill>
        <p:spPr>
          <a:xfrm>
            <a:off x="1371600" y="2331720"/>
            <a:ext cx="3565800" cy="317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Shape 4"/>
          <p:cNvSpPr/>
          <p:nvPr/>
        </p:nvSpPr>
        <p:spPr>
          <a:xfrm>
            <a:off x="6217920" y="1737360"/>
            <a:ext cx="5394600" cy="429732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6492240" y="192024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SOGLIA 0.30</a:t>
            </a:r>
            <a:endParaRPr b="0" lang="it-IT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Image 1" descr="assets/confusion_tuned.png"/>
          <p:cNvPicPr/>
          <p:nvPr/>
        </p:nvPicPr>
        <p:blipFill>
          <a:blip r:embed="rId2"/>
          <a:stretch/>
        </p:blipFill>
        <p:spPr>
          <a:xfrm>
            <a:off x="7040880" y="2331720"/>
            <a:ext cx="3565800" cy="309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 6"/>
          <p:cNvSpPr/>
          <p:nvPr/>
        </p:nvSpPr>
        <p:spPr>
          <a:xfrm>
            <a:off x="116128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9</a:t>
            </a:r>
            <a:endParaRPr b="0" lang="it-IT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7"/>
          <p:cNvSpPr/>
          <p:nvPr/>
        </p:nvSpPr>
        <p:spPr>
          <a:xfrm>
            <a:off x="548640" y="6492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548640" y="41148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Il Compromesso Recall / Precision</a:t>
            </a:r>
            <a:endParaRPr b="0" lang="it-IT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"/>
          <p:cNvSpPr/>
          <p:nvPr/>
        </p:nvSpPr>
        <p:spPr>
          <a:xfrm>
            <a:off x="548640" y="1645920"/>
            <a:ext cx="3520080" cy="3291480"/>
          </a:xfrm>
          <a:prstGeom prst="roundRect">
            <a:avLst>
              <a:gd name="adj" fmla="val 2222"/>
            </a:avLst>
          </a:prstGeom>
          <a:solidFill>
            <a:srgbClr val="f7f8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548640" y="182880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Falsi Negativi</a:t>
            </a:r>
            <a:endParaRPr b="0" lang="it-IT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822960" y="2468880"/>
            <a:ext cx="1279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6b7280"/>
                </a:solidFill>
                <a:effectLst/>
                <a:uFillTx/>
                <a:latin typeface="Cambria"/>
                <a:ea typeface="Cambria"/>
              </a:rPr>
              <a:t>39</a:t>
            </a:r>
            <a:endParaRPr b="0" lang="it-IT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2103120" y="2606040"/>
            <a:ext cx="456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2560320" y="2468880"/>
            <a:ext cx="1279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e8b57"/>
                </a:solidFill>
                <a:effectLst/>
                <a:uFillTx/>
                <a:latin typeface="Cambria"/>
                <a:ea typeface="Cambria"/>
              </a:rPr>
              <a:t>12</a:t>
            </a:r>
            <a:endParaRPr b="0" lang="it-IT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548640" y="352044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prima → dopo</a:t>
            </a:r>
            <a:endParaRPr b="0" lang="it-IT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7"/>
          <p:cNvSpPr/>
          <p:nvPr/>
        </p:nvSpPr>
        <p:spPr>
          <a:xfrm>
            <a:off x="4343400" y="1645920"/>
            <a:ext cx="3520080" cy="3291480"/>
          </a:xfrm>
          <a:prstGeom prst="roundRect">
            <a:avLst>
              <a:gd name="adj" fmla="val 2222"/>
            </a:avLst>
          </a:prstGeom>
          <a:solidFill>
            <a:srgbClr val="f7f8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8"/>
          <p:cNvSpPr/>
          <p:nvPr/>
        </p:nvSpPr>
        <p:spPr>
          <a:xfrm>
            <a:off x="4343400" y="182880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Falsi Positivi</a:t>
            </a:r>
            <a:endParaRPr b="0" lang="it-IT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9"/>
          <p:cNvSpPr/>
          <p:nvPr/>
        </p:nvSpPr>
        <p:spPr>
          <a:xfrm>
            <a:off x="4617720" y="2468880"/>
            <a:ext cx="1279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6b7280"/>
                </a:solidFill>
                <a:effectLst/>
                <a:uFillTx/>
                <a:latin typeface="Cambria"/>
                <a:ea typeface="Cambria"/>
              </a:rPr>
              <a:t>6</a:t>
            </a:r>
            <a:endParaRPr b="0" lang="it-IT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0"/>
          <p:cNvSpPr/>
          <p:nvPr/>
        </p:nvSpPr>
        <p:spPr>
          <a:xfrm>
            <a:off x="5897880" y="2606040"/>
            <a:ext cx="456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6355080" y="2468880"/>
            <a:ext cx="1279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b33a3a"/>
                </a:solidFill>
                <a:effectLst/>
                <a:uFillTx/>
                <a:latin typeface="Cambria"/>
                <a:ea typeface="Cambria"/>
              </a:rPr>
              <a:t>55</a:t>
            </a:r>
            <a:endParaRPr b="0" lang="it-IT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2"/>
          <p:cNvSpPr/>
          <p:nvPr/>
        </p:nvSpPr>
        <p:spPr>
          <a:xfrm>
            <a:off x="4343400" y="352044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prima → dopo</a:t>
            </a:r>
            <a:endParaRPr b="0" lang="it-IT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3"/>
          <p:cNvSpPr/>
          <p:nvPr/>
        </p:nvSpPr>
        <p:spPr>
          <a:xfrm>
            <a:off x="8138160" y="1645920"/>
            <a:ext cx="3520080" cy="3291480"/>
          </a:xfrm>
          <a:prstGeom prst="roundRect">
            <a:avLst>
              <a:gd name="adj" fmla="val 2222"/>
            </a:avLst>
          </a:prstGeom>
          <a:solidFill>
            <a:srgbClr val="f7f8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4"/>
          <p:cNvSpPr/>
          <p:nvPr/>
        </p:nvSpPr>
        <p:spPr>
          <a:xfrm>
            <a:off x="8138160" y="182880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Recall (classe 1)</a:t>
            </a:r>
            <a:endParaRPr b="0" lang="it-IT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5"/>
          <p:cNvSpPr/>
          <p:nvPr/>
        </p:nvSpPr>
        <p:spPr>
          <a:xfrm>
            <a:off x="8412480" y="2468880"/>
            <a:ext cx="1279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6b7280"/>
                </a:solidFill>
                <a:effectLst/>
                <a:uFillTx/>
                <a:latin typeface="Cambria"/>
                <a:ea typeface="Cambria"/>
              </a:rPr>
              <a:t>0.35</a:t>
            </a:r>
            <a:endParaRPr b="0" lang="it-IT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6"/>
          <p:cNvSpPr/>
          <p:nvPr/>
        </p:nvSpPr>
        <p:spPr>
          <a:xfrm>
            <a:off x="9692640" y="2606040"/>
            <a:ext cx="456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7"/>
          <p:cNvSpPr/>
          <p:nvPr/>
        </p:nvSpPr>
        <p:spPr>
          <a:xfrm>
            <a:off x="10149840" y="2468880"/>
            <a:ext cx="1279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e8b57"/>
                </a:solidFill>
                <a:effectLst/>
                <a:uFillTx/>
                <a:latin typeface="Cambria"/>
                <a:ea typeface="Cambria"/>
              </a:rPr>
              <a:t>0.80</a:t>
            </a:r>
            <a:endParaRPr b="0" lang="it-IT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8"/>
          <p:cNvSpPr/>
          <p:nvPr/>
        </p:nvSpPr>
        <p:spPr>
          <a:xfrm>
            <a:off x="8138160" y="352044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prima → dopo</a:t>
            </a:r>
            <a:endParaRPr b="0" lang="it-IT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9"/>
          <p:cNvSpPr/>
          <p:nvPr/>
        </p:nvSpPr>
        <p:spPr>
          <a:xfrm>
            <a:off x="548640" y="5120640"/>
            <a:ext cx="11063880" cy="105120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0"/>
          <p:cNvSpPr/>
          <p:nvPr/>
        </p:nvSpPr>
        <p:spPr>
          <a:xfrm>
            <a:off x="822960" y="5212080"/>
            <a:ext cx="10515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In un contesto bancario, evitare i default (falsi negativi) vale di più che evitare qualche rifiuto di troppo (falsi positivi): la soglia 0.30 è una scelta di policy conservativa.</a:t>
            </a:r>
            <a:endParaRPr b="0" lang="it-IT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1"/>
          <p:cNvSpPr/>
          <p:nvPr/>
        </p:nvSpPr>
        <p:spPr>
          <a:xfrm>
            <a:off x="116128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10</a:t>
            </a:r>
            <a:endParaRPr b="0" lang="it-IT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2"/>
          <p:cNvSpPr/>
          <p:nvPr/>
        </p:nvSpPr>
        <p:spPr>
          <a:xfrm>
            <a:off x="548640" y="6492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/>
          <p:nvPr/>
        </p:nvSpPr>
        <p:spPr>
          <a:xfrm>
            <a:off x="548640" y="41148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Confronto tra Modelli</a:t>
            </a:r>
            <a:endParaRPr b="0" lang="it-IT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548640" y="11430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9" name="Table 0"/>
          <p:cNvGraphicFramePr/>
          <p:nvPr/>
        </p:nvGraphicFramePr>
        <p:xfrm>
          <a:off x="548640" y="1691640"/>
          <a:ext cx="5760360" cy="1828800"/>
        </p:xfrm>
        <a:graphic>
          <a:graphicData uri="http://schemas.openxmlformats.org/drawingml/2006/table">
            <a:tbl>
              <a:tblPr/>
              <a:tblGrid>
                <a:gridCol w="1920240"/>
                <a:gridCol w="1280160"/>
                <a:gridCol w="1280160"/>
                <a:gridCol w="128016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Modello</a:t>
                      </a:r>
                      <a:endParaRPr b="0" lang="it-IT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5e7eb"/>
                      </a:solidFill>
                      <a:prstDash val="solid"/>
                    </a:lnL>
                    <a:lnR w="12240">
                      <a:solidFill>
                        <a:srgbClr val="e5e7eb"/>
                      </a:solidFill>
                      <a:prstDash val="solid"/>
                    </a:lnR>
                    <a:lnT w="12240">
                      <a:solidFill>
                        <a:srgbClr val="e5e7eb"/>
                      </a:solidFill>
                      <a:prstDash val="solid"/>
                    </a:lnT>
                    <a:lnB w="12240">
                      <a:solidFill>
                        <a:srgbClr val="e5e7e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Accuracy</a:t>
                      </a:r>
                      <a:endParaRPr b="0" lang="it-IT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5e7eb"/>
                      </a:solidFill>
                      <a:prstDash val="solid"/>
                    </a:lnL>
                    <a:lnR w="12240">
                      <a:solidFill>
                        <a:srgbClr val="e5e7eb"/>
                      </a:solidFill>
                      <a:prstDash val="solid"/>
                    </a:lnR>
                    <a:lnT w="12240">
                      <a:solidFill>
                        <a:srgbClr val="e5e7eb"/>
                      </a:solidFill>
                      <a:prstDash val="solid"/>
                    </a:lnT>
                    <a:lnB w="12240">
                      <a:solidFill>
                        <a:srgbClr val="e5e7e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Recall (cl. 1)</a:t>
                      </a:r>
                      <a:endParaRPr b="0" lang="it-IT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5e7eb"/>
                      </a:solidFill>
                      <a:prstDash val="solid"/>
                    </a:lnL>
                    <a:lnR w="12240">
                      <a:solidFill>
                        <a:srgbClr val="e5e7eb"/>
                      </a:solidFill>
                      <a:prstDash val="solid"/>
                    </a:lnR>
                    <a:lnT w="12240">
                      <a:solidFill>
                        <a:srgbClr val="e5e7eb"/>
                      </a:solidFill>
                      <a:prstDash val="solid"/>
                    </a:lnT>
                    <a:lnB w="12240">
                      <a:solidFill>
                        <a:srgbClr val="e5e7e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F1-Score (cl. 1)</a:t>
                      </a:r>
                      <a:endParaRPr b="0" lang="it-IT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5e7eb"/>
                      </a:solidFill>
                      <a:prstDash val="solid"/>
                    </a:lnL>
                    <a:lnR w="12240">
                      <a:solidFill>
                        <a:srgbClr val="e5e7eb"/>
                      </a:solidFill>
                      <a:prstDash val="solid"/>
                    </a:lnR>
                    <a:lnT w="12240">
                      <a:solidFill>
                        <a:srgbClr val="e5e7eb"/>
                      </a:solidFill>
                      <a:prstDash val="solid"/>
                    </a:lnT>
                    <a:lnB w="12240">
                      <a:solidFill>
                        <a:srgbClr val="e5e7e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Decision Tree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5e7eb"/>
                      </a:solidFill>
                      <a:prstDash val="solid"/>
                    </a:lnL>
                    <a:lnR w="12240">
                      <a:solidFill>
                        <a:srgbClr val="e5e7eb"/>
                      </a:solidFill>
                      <a:prstDash val="solid"/>
                    </a:lnR>
                    <a:lnT w="12240">
                      <a:solidFill>
                        <a:srgbClr val="e5e7eb"/>
                      </a:solidFill>
                      <a:prstDash val="solid"/>
                    </a:lnT>
                    <a:lnB w="1224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0.640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5e7eb"/>
                      </a:solidFill>
                      <a:prstDash val="solid"/>
                    </a:lnL>
                    <a:lnR w="12240">
                      <a:solidFill>
                        <a:srgbClr val="e5e7eb"/>
                      </a:solidFill>
                      <a:prstDash val="solid"/>
                    </a:lnR>
                    <a:lnT w="12240">
                      <a:solidFill>
                        <a:srgbClr val="e5e7eb"/>
                      </a:solidFill>
                      <a:prstDash val="solid"/>
                    </a:lnT>
                    <a:lnB w="1224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0.467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5e7eb"/>
                      </a:solidFill>
                      <a:prstDash val="solid"/>
                    </a:lnL>
                    <a:lnR w="12240">
                      <a:solidFill>
                        <a:srgbClr val="e5e7eb"/>
                      </a:solidFill>
                      <a:prstDash val="solid"/>
                    </a:lnR>
                    <a:lnT w="12240">
                      <a:solidFill>
                        <a:srgbClr val="e5e7eb"/>
                      </a:solidFill>
                      <a:prstDash val="solid"/>
                    </a:lnT>
                    <a:lnB w="1224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0.438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5e7eb"/>
                      </a:solidFill>
                      <a:prstDash val="solid"/>
                    </a:lnL>
                    <a:lnR w="12240">
                      <a:solidFill>
                        <a:srgbClr val="e5e7eb"/>
                      </a:solidFill>
                      <a:prstDash val="solid"/>
                    </a:lnR>
                    <a:lnT w="12240">
                      <a:solidFill>
                        <a:srgbClr val="e5e7eb"/>
                      </a:solidFill>
                      <a:prstDash val="solid"/>
                    </a:lnT>
                    <a:lnB w="1224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Naive Bayes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5e7eb"/>
                      </a:solidFill>
                      <a:prstDash val="solid"/>
                    </a:lnL>
                    <a:lnR w="12240">
                      <a:solidFill>
                        <a:srgbClr val="e5e7eb"/>
                      </a:solidFill>
                      <a:prstDash val="solid"/>
                    </a:lnR>
                    <a:lnT w="12240">
                      <a:solidFill>
                        <a:srgbClr val="e5e7eb"/>
                      </a:solidFill>
                      <a:prstDash val="solid"/>
                    </a:lnT>
                    <a:lnB w="1224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0.740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5e7eb"/>
                      </a:solidFill>
                      <a:prstDash val="solid"/>
                    </a:lnL>
                    <a:lnR w="12240">
                      <a:solidFill>
                        <a:srgbClr val="e5e7eb"/>
                      </a:solidFill>
                      <a:prstDash val="solid"/>
                    </a:lnR>
                    <a:lnT w="12240">
                      <a:solidFill>
                        <a:srgbClr val="e5e7eb"/>
                      </a:solidFill>
                      <a:prstDash val="solid"/>
                    </a:lnT>
                    <a:lnB w="1224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0.650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5e7eb"/>
                      </a:solidFill>
                      <a:prstDash val="solid"/>
                    </a:lnL>
                    <a:lnR w="12240">
                      <a:solidFill>
                        <a:srgbClr val="e5e7eb"/>
                      </a:solidFill>
                      <a:prstDash val="solid"/>
                    </a:lnR>
                    <a:lnT w="12240">
                      <a:solidFill>
                        <a:srgbClr val="e5e7eb"/>
                      </a:solidFill>
                      <a:prstDash val="solid"/>
                    </a:lnT>
                    <a:lnB w="1224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0.600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5e7eb"/>
                      </a:solidFill>
                      <a:prstDash val="solid"/>
                    </a:lnL>
                    <a:lnR w="12240">
                      <a:solidFill>
                        <a:srgbClr val="e5e7eb"/>
                      </a:solidFill>
                      <a:prstDash val="solid"/>
                    </a:lnR>
                    <a:lnT w="12240">
                      <a:solidFill>
                        <a:srgbClr val="e5e7eb"/>
                      </a:solidFill>
                      <a:prstDash val="solid"/>
                    </a:lnT>
                    <a:lnB w="12240">
                      <a:solidFill>
                        <a:srgbClr val="e5e7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Random Forest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5e7eb"/>
                      </a:solidFill>
                      <a:prstDash val="solid"/>
                    </a:lnL>
                    <a:lnR w="12240">
                      <a:solidFill>
                        <a:srgbClr val="e5e7eb"/>
                      </a:solidFill>
                      <a:prstDash val="solid"/>
                    </a:lnR>
                    <a:lnT w="12240">
                      <a:solidFill>
                        <a:srgbClr val="e5e7eb"/>
                      </a:solidFill>
                      <a:prstDash val="solid"/>
                    </a:lnT>
                    <a:lnB w="12240">
                      <a:solidFill>
                        <a:srgbClr val="e5e7eb"/>
                      </a:solidFill>
                      <a:prstDash val="soli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0.775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5e7eb"/>
                      </a:solidFill>
                      <a:prstDash val="solid"/>
                    </a:lnL>
                    <a:lnR w="12240">
                      <a:solidFill>
                        <a:srgbClr val="e5e7eb"/>
                      </a:solidFill>
                      <a:prstDash val="solid"/>
                    </a:lnR>
                    <a:lnT w="12240">
                      <a:solidFill>
                        <a:srgbClr val="e5e7eb"/>
                      </a:solidFill>
                      <a:prstDash val="solid"/>
                    </a:lnT>
                    <a:lnB w="12240">
                      <a:solidFill>
                        <a:srgbClr val="e5e7eb"/>
                      </a:solidFill>
                      <a:prstDash val="soli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0.350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5e7eb"/>
                      </a:solidFill>
                      <a:prstDash val="solid"/>
                    </a:lnL>
                    <a:lnR w="12240">
                      <a:solidFill>
                        <a:srgbClr val="e5e7eb"/>
                      </a:solidFill>
                      <a:prstDash val="solid"/>
                    </a:lnR>
                    <a:lnT w="12240">
                      <a:solidFill>
                        <a:srgbClr val="e5e7eb"/>
                      </a:solidFill>
                      <a:prstDash val="solid"/>
                    </a:lnT>
                    <a:lnB w="12240">
                      <a:solidFill>
                        <a:srgbClr val="e5e7eb"/>
                      </a:solidFill>
                      <a:prstDash val="soli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0.483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5e7eb"/>
                      </a:solidFill>
                      <a:prstDash val="solid"/>
                    </a:lnL>
                    <a:lnR w="12240">
                      <a:solidFill>
                        <a:srgbClr val="e5e7eb"/>
                      </a:solidFill>
                      <a:prstDash val="solid"/>
                    </a:lnR>
                    <a:lnT w="12240">
                      <a:solidFill>
                        <a:srgbClr val="e5e7eb"/>
                      </a:solidFill>
                      <a:prstDash val="solid"/>
                    </a:lnT>
                    <a:lnB w="12240">
                      <a:solidFill>
                        <a:srgbClr val="e5e7eb"/>
                      </a:solidFill>
                      <a:prstDash val="soli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  <p:sp>
        <p:nvSpPr>
          <p:cNvPr id="150" name="Shape 2"/>
          <p:cNvSpPr/>
          <p:nvPr/>
        </p:nvSpPr>
        <p:spPr>
          <a:xfrm>
            <a:off x="548640" y="3703320"/>
            <a:ext cx="5760360" cy="2331360"/>
          </a:xfrm>
          <a:prstGeom prst="roundRect">
            <a:avLst>
              <a:gd name="adj" fmla="val 2745"/>
            </a:avLst>
          </a:prstGeom>
          <a:solidFill>
            <a:srgbClr val="f7f8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3"/>
          <p:cNvSpPr/>
          <p:nvPr/>
        </p:nvSpPr>
        <p:spPr>
          <a:xfrm>
            <a:off x="777240" y="3840480"/>
            <a:ext cx="530316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Risultato controintuitivo: il Random Forest ha l'accuracy più alta ma il recall più basso sulla classe a rischio — superato da Naive Bayes (0.65) e Decision Tree (0.467). È proprio per questo che la calibrazione della soglia (sezione precedente) è decisiva: porta il recall del Random Forest a 0.80, superando tutti gli altri modelli.</a:t>
            </a:r>
            <a:endParaRPr b="0" lang="it-IT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age 0" descr="assets/decision_tree.png"/>
          <p:cNvPicPr/>
          <p:nvPr/>
        </p:nvPicPr>
        <p:blipFill>
          <a:blip r:embed="rId1"/>
          <a:stretch/>
        </p:blipFill>
        <p:spPr>
          <a:xfrm>
            <a:off x="6537960" y="1691640"/>
            <a:ext cx="5074560" cy="261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 4"/>
          <p:cNvSpPr/>
          <p:nvPr/>
        </p:nvSpPr>
        <p:spPr>
          <a:xfrm>
            <a:off x="6537960" y="4343400"/>
            <a:ext cx="5074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Decision Tree — primi 3 livelli. Il nodo radice divide sulla presenza di conto corrente (checking_status_A14).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116128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11</a:t>
            </a:r>
            <a:endParaRPr b="0" lang="it-IT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6"/>
          <p:cNvSpPr/>
          <p:nvPr/>
        </p:nvSpPr>
        <p:spPr>
          <a:xfrm>
            <a:off x="548640" y="6492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548640" y="41148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Quali Variabili Contano di Più?</a:t>
            </a:r>
            <a:endParaRPr b="0" lang="it-IT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Image 0" descr="assets/feature_importance.png"/>
          <p:cNvPicPr/>
          <p:nvPr/>
        </p:nvPicPr>
        <p:blipFill>
          <a:blip r:embed="rId1"/>
          <a:stretch/>
        </p:blipFill>
        <p:spPr>
          <a:xfrm>
            <a:off x="5394960" y="1371600"/>
            <a:ext cx="6309000" cy="352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ext 1"/>
          <p:cNvSpPr/>
          <p:nvPr/>
        </p:nvSpPr>
        <p:spPr>
          <a:xfrm>
            <a:off x="548640" y="1828800"/>
            <a:ext cx="457164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credit_amount e duration guidano la previsione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001"/>
              </a:lnSpc>
              <a:spcAft>
                <a:spcPts val="1001"/>
              </a:spcAft>
              <a:buClr>
                <a:srgbClr val="333333"/>
              </a:buClr>
              <a:buFont typeface="OpenSymbol"/>
              <a:buChar char="▪"/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001"/>
              </a:lnSpc>
              <a:spcAft>
                <a:spcPts val="1001"/>
              </a:spcAft>
              <a:buClr>
                <a:srgbClr val="333333"/>
              </a:buClr>
              <a:buFont typeface="OpenSymbol"/>
              <a:buChar char="▪"/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checking_status_A14 (nessun conto corrente) pesa quasi quanto l'età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001"/>
              </a:lnSpc>
              <a:spcAft>
                <a:spcPts val="1001"/>
              </a:spcAft>
              <a:buClr>
                <a:srgbClr val="333333"/>
              </a:buClr>
              <a:buFont typeface="OpenSymbol"/>
              <a:buChar char="▪"/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001"/>
              </a:lnSpc>
              <a:spcAft>
                <a:spcPts val="1001"/>
              </a:spcAft>
              <a:buClr>
                <a:srgbClr val="333333"/>
              </a:buClr>
              <a:buFont typeface="OpenSymbol"/>
              <a:buChar char="▪"/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credit_history e savings_status confermano l'importanza dello storico bancario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001"/>
              </a:lnSpc>
              <a:spcAft>
                <a:spcPts val="1001"/>
              </a:spcAft>
              <a:buClr>
                <a:srgbClr val="333333"/>
              </a:buClr>
              <a:buFont typeface="OpenSymbol"/>
              <a:buChar char="▪"/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001"/>
              </a:lnSpc>
              <a:buClr>
                <a:srgbClr val="333333"/>
              </a:buClr>
              <a:buFont typeface="OpenSymbol"/>
              <a:buChar char="▪"/>
            </a:pP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Coerente con la letteratura sul credit risk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"/>
          <p:cNvSpPr/>
          <p:nvPr/>
        </p:nvSpPr>
        <p:spPr>
          <a:xfrm>
            <a:off x="116128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12</a:t>
            </a:r>
            <a:endParaRPr b="0" lang="it-IT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3"/>
          <p:cNvSpPr/>
          <p:nvPr/>
        </p:nvSpPr>
        <p:spPr>
          <a:xfrm>
            <a:off x="548640" y="6492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1"/>
          <p:cNvSpPr/>
          <p:nvPr/>
        </p:nvSpPr>
        <p:spPr>
          <a:xfrm>
            <a:off x="548640" y="54864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Conclusioni e Sviluppi Futuri</a:t>
            </a:r>
            <a:endParaRPr b="0" lang="it-IT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548640" y="1828800"/>
            <a:ext cx="1051524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ts val="2401"/>
              </a:lnSpc>
              <a:spcAft>
                <a:spcPts val="1599"/>
              </a:spcAft>
              <a:buClr>
                <a:srgbClr val="cadcfc"/>
              </a:buClr>
              <a:buFont typeface="OpenSymbol"/>
              <a:buChar char="▪"/>
            </a:pPr>
            <a:r>
              <a:rPr b="0" lang="en-US" sz="17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Random Forest: 78% accuracy base, migliorabile in sensibilità con threshold tuning</a:t>
            </a:r>
            <a:endParaRPr b="0" lang="it-IT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01"/>
              </a:lnSpc>
              <a:spcAft>
                <a:spcPts val="1599"/>
              </a:spcAft>
              <a:buClr>
                <a:srgbClr val="cadcfc"/>
              </a:buClr>
              <a:buFont typeface="OpenSymbol"/>
              <a:buChar char="▪"/>
            </a:pPr>
            <a:r>
              <a:rPr b="0" lang="en-US" sz="17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Soglia 0.30: recall sulla classe a rischio da 0.35 a 0.80, trade-off accettabile in ottica di risk management</a:t>
            </a:r>
            <a:endParaRPr b="0" lang="it-IT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2401"/>
              </a:lnSpc>
              <a:spcAft>
                <a:spcPts val="1599"/>
              </a:spcAft>
              <a:buClr>
                <a:srgbClr val="cadcfc"/>
              </a:buClr>
              <a:buFont typeface="OpenSymbol"/>
              <a:buChar char="▪"/>
            </a:pPr>
            <a:r>
              <a:rPr b="0" lang="en-US" sz="1700" strike="noStrike" u="non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credit_amount, duration e storico bancario sono i predittori più rilevanti</a:t>
            </a:r>
            <a:endParaRPr b="0" lang="it-IT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548640" y="612648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116128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b7280"/>
                </a:solidFill>
                <a:effectLst/>
                <a:uFillTx/>
                <a:latin typeface="Calibri"/>
              </a:rPr>
              <a:t>13</a:t>
            </a:r>
            <a:endParaRPr b="0" lang="it-IT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548640" y="64922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LibreOffice/25.2.7.2$Windows_X86_64 LibreOffice_project/5cbfd1ab6520636bb5f7b99185aa69bd7456825d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2026-07-21T03:42:37Z</dcterms:created>
  <dc:creator>PptxGenJS</dc:creator>
  <dc:description/>
  <dc:language>it-IT</dc:language>
  <cp:lastModifiedBy/>
  <dcterms:modified xsi:type="dcterms:W3CDTF">2026-07-21T06:39:19Z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On-screen Show (16:9)</vt:lpwstr>
  </property>
  <property fmtid="{D5CDD505-2E9C-101B-9397-08002B2CF9AE}" pid="4" name="Slides">
    <vt:r8>13</vt:r8>
  </property>
</Properties>
</file>